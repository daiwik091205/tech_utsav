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10725912" cy="466344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233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88720" y="1554480"/>
            <a:ext cx="3291840" cy="365760"/>
          </a:xfrm>
          <a:prstGeom prst="roundRect">
            <a:avLst/>
          </a:prstGeom>
          <a:solidFill>
            <a:srgbClr val="111827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6B6D4"/>
                </a:solidFill>
              </a:defRPr>
            </a:pPr>
            <a:r>
              <a:t>AIR-GAPPED COMPLIANCE &amp; PRIVACY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103120"/>
            <a:ext cx="9784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Enterprise Multi-Agent Document Intelligence</a:t>
            </a:r>
            <a:br/>
            <a:r>
              <a:t>&amp; Hardware Redaction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931920"/>
            <a:ext cx="9784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An air-gapped, privacy-preserving pipeline: Spatial layout parsing, Microsoft Presidio NER, true PyMuPDF pixel burn-in, Pydantic structured extraction &amp; differential privacy.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88720" y="4846320"/>
            <a:ext cx="2286000" cy="411480"/>
          </a:xfrm>
          <a:prstGeom prst="roundRect">
            <a:avLst/>
          </a:prstGeom>
          <a:solidFill>
            <a:srgbClr val="151E32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• Zero Data Egress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4846320"/>
            <a:ext cx="2286000" cy="411480"/>
          </a:xfrm>
          <a:prstGeom prst="roundRect">
            <a:avLst/>
          </a:prstGeom>
          <a:solidFill>
            <a:srgbClr val="151E32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/>
          <a:lstStyle/>
          <a:p>
            <a:pPr algn="ctr">
              <a:defRPr sz="1100" b="1">
                <a:solidFill>
                  <a:srgbClr val="06B6D4"/>
                </a:solidFill>
              </a:defRPr>
            </a:pPr>
            <a:r>
              <a:t>• Hardware Pixel Burn-In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4846320"/>
            <a:ext cx="2286000" cy="411480"/>
          </a:xfrm>
          <a:prstGeom prst="roundRect">
            <a:avLst/>
          </a:prstGeom>
          <a:solidFill>
            <a:srgbClr val="151E32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/>
          <a:lstStyle/>
          <a:p>
            <a:pPr algn="ctr">
              <a:defRPr sz="1100" b="1">
                <a:solidFill>
                  <a:srgbClr val="6366F1"/>
                </a:solidFill>
              </a:defRPr>
            </a:pPr>
            <a:r>
              <a:t>• HIPAA § 164 &amp; FERPA Ready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95360" y="4846320"/>
            <a:ext cx="2286000" cy="411480"/>
          </a:xfrm>
          <a:prstGeom prst="roundRect">
            <a:avLst/>
          </a:prstGeom>
          <a:solidFill>
            <a:srgbClr val="151E32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/>
          <a:lstStyle/>
          <a:p>
            <a:pPr algn="ctr">
              <a:defRPr sz="1100" b="1">
                <a:solidFill>
                  <a:srgbClr val="F59E0B"/>
                </a:solidFill>
              </a:defRPr>
            </a:pPr>
            <a:r>
              <a:t>• 4 Asynchronous Agents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560320" cy="320040"/>
          </a:xfrm>
          <a:prstGeom prst="roundRect">
            <a:avLst/>
          </a:prstGeom>
          <a:solidFill>
            <a:srgbClr val="1E1B4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INDUSTRY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64008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The Enterprise Document Privacy Paradox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1148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Why standard cloud AI and visual PDF tools fail regulatory compliance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474720" cy="4206240"/>
          </a:xfrm>
          <a:prstGeom prst="roundRect">
            <a:avLst/>
          </a:prstGeom>
          <a:solidFill>
            <a:srgbClr val="151E32"/>
          </a:solidFill>
          <a:ln w="1524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3108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F43F5E"/>
                </a:solidFill>
              </a:defRPr>
            </a:pPr>
            <a:r>
              <a:t>1. The 'Fake Redaction' Disaster</a:t>
            </a:r>
          </a:p>
          <a:p>
            <a:pPr>
              <a:spcAft>
                <a:spcPts val="1000"/>
              </a:spcAft>
              <a:defRPr sz="1300">
                <a:solidFill>
                  <a:srgbClr val="94A3B8"/>
                </a:solidFill>
              </a:defRPr>
            </a:pPr>
            <a:r>
              <a:t>• Standard tools (Adobe, Preview) often draw black SVG boxes over text.</a:t>
            </a:r>
          </a:p>
          <a:p>
            <a:pPr>
              <a:spcAft>
                <a:spcPts val="1000"/>
              </a:spcAft>
              <a:defRPr sz="1300">
                <a:solidFill>
                  <a:srgbClr val="94A3B8"/>
                </a:solidFill>
              </a:defRPr>
            </a:pPr>
            <a:r>
              <a:t>• Underlying character streams and metadata remain fully selectable and extractable in memory.</a:t>
            </a:r>
          </a:p>
          <a:p>
            <a:pPr>
              <a:spcAft>
                <a:spcPts val="1000"/>
              </a:spcAft>
              <a:defRPr sz="1300">
                <a:solidFill>
                  <a:srgbClr val="94A3B8"/>
                </a:solidFill>
              </a:defRPr>
            </a:pPr>
            <a:r>
              <a:t>• Violates HIPAA, GDPR, and enterprise NDA safeguards.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920240"/>
            <a:ext cx="3474720" cy="4206240"/>
          </a:xfrm>
          <a:prstGeom prst="roundRect">
            <a:avLst/>
          </a:prstGeom>
          <a:solidFill>
            <a:srgbClr val="151E32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2103120"/>
            <a:ext cx="3108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F59E0B"/>
                </a:solidFill>
              </a:defRPr>
            </a:pPr>
            <a:r>
              <a:t>2. Cloud LLM Data Leaks</a:t>
            </a:r>
          </a:p>
          <a:p>
            <a:pPr>
              <a:spcAft>
                <a:spcPts val="1000"/>
              </a:spcAft>
              <a:defRPr sz="1300">
                <a:solidFill>
                  <a:srgbClr val="94A3B8"/>
                </a:solidFill>
              </a:defRPr>
            </a:pPr>
            <a:r>
              <a:t>• Pumping sensitive intake documents (clinical records, NDAs, student IDs) to public cloud APIs violates data residency.</a:t>
            </a:r>
          </a:p>
          <a:p>
            <a:pPr>
              <a:spcAft>
                <a:spcPts val="1000"/>
              </a:spcAft>
              <a:defRPr sz="1300">
                <a:solidFill>
                  <a:srgbClr val="94A3B8"/>
                </a:solidFill>
              </a:defRPr>
            </a:pPr>
            <a:r>
              <a:t>• Exposes organizations to massive statutory non-compliance fines.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1920240"/>
            <a:ext cx="3474720" cy="4206240"/>
          </a:xfrm>
          <a:prstGeom prst="roundRect">
            <a:avLst/>
          </a:prstGeom>
          <a:solidFill>
            <a:srgbClr val="151E32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0" y="2103120"/>
            <a:ext cx="3108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6366F1"/>
                </a:solidFill>
              </a:defRPr>
            </a:pPr>
            <a:r>
              <a:t>3. Monolithic Prompt Breakdown</a:t>
            </a:r>
          </a:p>
          <a:p>
            <a:pPr>
              <a:spcAft>
                <a:spcPts val="1000"/>
              </a:spcAft>
              <a:defRPr sz="1300">
                <a:solidFill>
                  <a:srgbClr val="94A3B8"/>
                </a:solidFill>
              </a:defRPr>
            </a:pPr>
            <a:r>
              <a:t>• Stuffing 30-page complex PDFs into a single monolithic LLM prompt leads to token bloat, dense table distortion, hallucinations, and zero spatial coordinate accuracy.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560320" cy="320040"/>
          </a:xfrm>
          <a:prstGeom prst="roundRect">
            <a:avLst/>
          </a:prstGeom>
          <a:solidFill>
            <a:srgbClr val="1E1B4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64008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Air-Gapped Multi-Agent Intelligence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1148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Deterministic Directed Acyclic Graph (DAG) with specialized local nodes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257800" cy="2057400"/>
          </a:xfrm>
          <a:prstGeom prst="roundRect">
            <a:avLst/>
          </a:prstGeom>
          <a:solidFill>
            <a:srgbClr val="151E32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4892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6B6D4"/>
                </a:solidFill>
              </a:defRPr>
            </a:pPr>
            <a:r>
              <a:t>Deterministic DAG vs. Monolithic LLM</a:t>
            </a:r>
          </a:p>
          <a:p>
            <a:pPr>
              <a:lnSpc>
                <a:spcPct val="120000"/>
              </a:lnSpc>
              <a:defRPr sz="1300">
                <a:solidFill>
                  <a:srgbClr val="94A3B8"/>
                </a:solidFill>
              </a:defRPr>
            </a:pPr>
            <a:r>
              <a:t>Tasks are distributed across specialized agents with strict separation of concerns: Layout Parsing &amp;rarr; Privacy Scanning &amp;rarr; Schema Structuring &amp;rarr; Risk Evaluation.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920240"/>
            <a:ext cx="5257800" cy="2057400"/>
          </a:xfrm>
          <a:prstGeom prst="roundRect">
            <a:avLst/>
          </a:prstGeom>
          <a:solidFill>
            <a:srgbClr val="151E32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2057400"/>
            <a:ext cx="4892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0B981"/>
                </a:solidFill>
              </a:defRPr>
            </a:pPr>
            <a:r>
              <a:t>100% Air-Gapped Local Execution</a:t>
            </a:r>
          </a:p>
          <a:p>
            <a:pPr>
              <a:lnSpc>
                <a:spcPct val="120000"/>
              </a:lnSpc>
              <a:defRPr sz="1300">
                <a:solidFill>
                  <a:srgbClr val="94A3B8"/>
                </a:solidFill>
              </a:defRPr>
            </a:pPr>
            <a:r>
              <a:t>Zero external telemetry. Runs completely on local hardware using PyMuPDF, Microsoft Presidio NER, and open-weights LLMs (Ollama / Qwen / Llama).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160520"/>
            <a:ext cx="5257800" cy="2057400"/>
          </a:xfrm>
          <a:prstGeom prst="roundRect">
            <a:avLst/>
          </a:prstGeom>
          <a:solidFill>
            <a:srgbClr val="151E32"/>
          </a:solidFill>
          <a:ln w="1524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297680"/>
            <a:ext cx="4892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43F5E"/>
                </a:solidFill>
              </a:defRPr>
            </a:pPr>
            <a:r>
              <a:t>True Hardware Pixel Burn-In</a:t>
            </a:r>
          </a:p>
          <a:p>
            <a:pPr>
              <a:lnSpc>
                <a:spcPct val="120000"/>
              </a:lnSpc>
              <a:defRPr sz="1300">
                <a:solidFill>
                  <a:srgbClr val="94A3B8"/>
                </a:solidFill>
              </a:defRPr>
            </a:pPr>
            <a:r>
              <a:t>Directly burns black pixels into the vector raster stream via PyMuPDF (fitz.PDF_REDACT_IMAGE_PIXELS). Underlying text glyphs are physically expunged.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4160520"/>
            <a:ext cx="5257800" cy="2057400"/>
          </a:xfrm>
          <a:prstGeom prst="roundRect">
            <a:avLst/>
          </a:prstGeom>
          <a:solidFill>
            <a:srgbClr val="151E32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4297680"/>
            <a:ext cx="4892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6366F1"/>
                </a:solidFill>
              </a:defRPr>
            </a:pPr>
            <a:r>
              <a:t>Real-Time Reactive SSE Telemetry</a:t>
            </a:r>
          </a:p>
          <a:p>
            <a:pPr>
              <a:lnSpc>
                <a:spcPct val="120000"/>
              </a:lnSpc>
              <a:defRPr sz="1300">
                <a:solidFill>
                  <a:srgbClr val="94A3B8"/>
                </a:solidFill>
              </a:defRPr>
            </a:pPr>
            <a:r>
              <a:t>No static spinners. Server-Sent Events stream each agent's execution phase, token count, and detected entities live to the frontend in milliseconds.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560320" cy="320040"/>
          </a:xfrm>
          <a:prstGeom prst="roundRect">
            <a:avLst/>
          </a:prstGeom>
          <a:solidFill>
            <a:srgbClr val="1E1B4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MULTI-AGENT TOPOLOGY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64008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The 4 Specialized Agent Nodes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1148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Directed Acyclic Graph orchestrated via FastAPI &amp; Server-Sent Events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2560320" cy="4206240"/>
          </a:xfrm>
          <a:prstGeom prst="roundRect">
            <a:avLst/>
          </a:prstGeom>
          <a:solidFill>
            <a:srgbClr val="151E32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057400"/>
            <a:ext cx="2286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06B6D4"/>
                </a:solidFill>
              </a:defRPr>
            </a:pPr>
            <a:r>
              <a:t>Agent 1: Ingestion &amp; Vision</a:t>
            </a:r>
          </a:p>
          <a:p>
            <a:pPr>
              <a:spcAft>
                <a:spcPts val="1200"/>
              </a:spcAft>
              <a:defRPr sz="1100" b="1">
                <a:solidFill>
                  <a:srgbClr val="94A3B8"/>
                </a:solidFill>
              </a:defRPr>
            </a:pPr>
            <a:r>
              <a:t>PyMuPDF Spatial Parser</a:t>
            </a:r>
          </a:p>
          <a:p>
            <a:pPr>
              <a:lnSpc>
                <a:spcPct val="120000"/>
              </a:lnSpc>
              <a:defRPr sz="1200">
                <a:solidFill>
                  <a:srgbClr val="94A3B8"/>
                </a:solidFill>
              </a:defRPr>
            </a:pPr>
            <a:r>
              <a:t>Extracts spatial tokens, reading order, and exact character bounding boxes [x0, y0, x1, y1] in sub-200ms.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920240"/>
            <a:ext cx="2560320" cy="4206240"/>
          </a:xfrm>
          <a:prstGeom prst="roundRect">
            <a:avLst/>
          </a:prstGeom>
          <a:solidFill>
            <a:srgbClr val="151E32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2057400"/>
            <a:ext cx="2286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6366F1"/>
                </a:solidFill>
              </a:defRPr>
            </a:pPr>
            <a:r>
              <a:t>Agent 2: Schema Structuring</a:t>
            </a:r>
          </a:p>
          <a:p>
            <a:pPr>
              <a:spcAft>
                <a:spcPts val="1200"/>
              </a:spcAft>
              <a:defRPr sz="1100" b="1">
                <a:solidFill>
                  <a:srgbClr val="94A3B8"/>
                </a:solidFill>
              </a:defRPr>
            </a:pPr>
            <a:r>
              <a:t>Open-Weights Local LLM</a:t>
            </a:r>
          </a:p>
          <a:p>
            <a:pPr>
              <a:lnSpc>
                <a:spcPct val="120000"/>
              </a:lnSpc>
              <a:defRPr sz="1200">
                <a:solidFill>
                  <a:srgbClr val="94A3B8"/>
                </a:solidFill>
              </a:defRPr>
            </a:pPr>
            <a:r>
              <a:t>Forces type-safe Pydantic JSON schemas. Extracts medical billing line-items, contracts, or academic records.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920240"/>
            <a:ext cx="2560320" cy="4206240"/>
          </a:xfrm>
          <a:prstGeom prst="roundRect">
            <a:avLst/>
          </a:prstGeom>
          <a:solidFill>
            <a:srgbClr val="151E32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2057400"/>
            <a:ext cx="2286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F59E0B"/>
                </a:solidFill>
              </a:defRPr>
            </a:pPr>
            <a:r>
              <a:t>Agent 3: Compliance &amp; Risk</a:t>
            </a:r>
          </a:p>
          <a:p>
            <a:pPr>
              <a:spcAft>
                <a:spcPts val="1200"/>
              </a:spcAft>
              <a:defRPr sz="1100" b="1">
                <a:solidFill>
                  <a:srgbClr val="94A3B8"/>
                </a:solidFill>
              </a:defRPr>
            </a:pPr>
            <a:r>
              <a:t>Vectorized Benchmark Evaluator</a:t>
            </a:r>
          </a:p>
          <a:p>
            <a:pPr>
              <a:lnSpc>
                <a:spcPct val="120000"/>
              </a:lnSpc>
              <a:defRPr sz="1200">
                <a:solidFill>
                  <a:srgbClr val="94A3B8"/>
                </a:solidFill>
              </a:defRPr>
            </a:pPr>
            <a:r>
              <a:t>Compares clauses against enterprise baselines. Flags unlimited liability, foreign courts &amp; FERPA risks with suggested redlines.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23960" y="1920240"/>
            <a:ext cx="2560320" cy="4206240"/>
          </a:xfrm>
          <a:prstGeom prst="roundRect">
            <a:avLst/>
          </a:prstGeom>
          <a:solidFill>
            <a:srgbClr val="151E32"/>
          </a:solidFill>
          <a:ln w="1524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0" y="2057400"/>
            <a:ext cx="2286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F43F5E"/>
                </a:solidFill>
              </a:defRPr>
            </a:pPr>
            <a:r>
              <a:t>Agent 4: Privacy &amp; Redaction</a:t>
            </a:r>
          </a:p>
          <a:p>
            <a:pPr>
              <a:spcAft>
                <a:spcPts val="1200"/>
              </a:spcAft>
              <a:defRPr sz="1100" b="1">
                <a:solidFill>
                  <a:srgbClr val="94A3B8"/>
                </a:solidFill>
              </a:defRPr>
            </a:pPr>
            <a:r>
              <a:t>Presidio NER + PyMuPDF Burn-In</a:t>
            </a:r>
          </a:p>
          <a:p>
            <a:pPr>
              <a:lnSpc>
                <a:spcPct val="120000"/>
              </a:lnSpc>
              <a:defRPr sz="1200">
                <a:solidFill>
                  <a:srgbClr val="94A3B8"/>
                </a:solidFill>
              </a:defRPr>
            </a:pPr>
            <a:r>
              <a:t>Detects SSNs, names, USNs &amp; medical IDs. Burns physical black pixels into the vector stream. Zero text leakage.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560320" cy="320040"/>
          </a:xfrm>
          <a:prstGeom prst="roundRect">
            <a:avLst/>
          </a:prstGeom>
          <a:solidFill>
            <a:srgbClr val="1E1B4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SECURITY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64008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True Hardware Pixel Burn-In vs. Fake Redaction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1148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Permanent vector stream expungement and zero character leakage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257800" cy="4206240"/>
          </a:xfrm>
          <a:prstGeom prst="roundRect">
            <a:avLst/>
          </a:prstGeom>
          <a:solidFill>
            <a:srgbClr val="151E32"/>
          </a:solidFill>
          <a:ln w="1524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8920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43F5E"/>
                </a:solidFill>
              </a:defRPr>
            </a:pPr>
            <a:r>
              <a:t>Traditional Commercial Tools (Flawed)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✕  Draws a black SVG or visual rectangle on a top visual layer.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✕  Underlying PDF stream retains original character glyphs &amp; font tables.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✕  Anyone can select, copy-paste, or run pdfminer/strings to extract PII.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✕  Fails HIPAA 45 CFR § 164 Safe Harbor and GDPR statutory audits.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✕  Creates massive legal liability during external audits.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920240"/>
            <a:ext cx="5257800" cy="4206240"/>
          </a:xfrm>
          <a:prstGeom prst="roundRect">
            <a:avLst/>
          </a:prstGeom>
          <a:solidFill>
            <a:srgbClr val="151E32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2103120"/>
            <a:ext cx="48920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0B981"/>
                </a:solidFill>
              </a:defRPr>
            </a:pPr>
            <a:r>
              <a:t>Our Engine: Hardware Pixel Burn-In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✓  PyMuPDF page.add_redact_annot() identifies exact canvas coordinates.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✓  fitz.PDF_REDACT_IMAGE_PIXELS burns pure black pixels into raster bitmaps.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✓  Vector streams, font definitions, and glyph positions are expunged.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✓  Automated verification: Post-redaction text stream scan confirms 0 matches.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✓  Protected template labels: Designation, Max. Marks preserved 100%.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560320" cy="320040"/>
          </a:xfrm>
          <a:prstGeom prst="roundRect">
            <a:avLst/>
          </a:prstGeom>
          <a:solidFill>
            <a:srgbClr val="1E1B4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MATHEMATICAL GUARANTEES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64008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Differential Privacy &amp; Cryptographic Audit Trails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1148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Provable mathematical security combined with SHA-256 verifiable audit records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257800" cy="4206240"/>
          </a:xfrm>
          <a:prstGeom prst="roundRect">
            <a:avLst/>
          </a:prstGeom>
          <a:solidFill>
            <a:srgbClr val="151E32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8920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6B6D4"/>
                </a:solidFill>
              </a:defRPr>
            </a:pPr>
            <a:r>
              <a:t>Mathematical Differential Privacy (DP)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Prevents Reconstruction &amp; Linkage Attacks: Protects statistical aggregates.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Calibrated Laplace Mechanism: Injects noise drawn from Laplace(0, Δf / ε).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Configured Epsilon: ε = 0.5 delivers strict privacy loss bound.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k-Anonymity Baseline: k=5 generalization on quasi-identifiers (age, dates).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Guarantees that individual patient/client presence cannot be reverse-engineered.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920240"/>
            <a:ext cx="5257800" cy="4206240"/>
          </a:xfrm>
          <a:prstGeom prst="roundRect">
            <a:avLst/>
          </a:prstGeom>
          <a:solidFill>
            <a:srgbClr val="151E32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2103120"/>
            <a:ext cx="48920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6366F1"/>
                </a:solidFill>
              </a:defRPr>
            </a:pPr>
            <a:r>
              <a:t>Cryptographic SHA-256 Audit Digest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Cryptographic Digest: Computes immutable SHA-256 hash across result payloads.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Audit Log Export: Generates downloadable JSON report for compliance officers.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Traceability: Logs exact timestamp, redacted token count, and risk scores.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Verification Modal: Built-in UI query tool allows live in-memory string search.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• ERP Integration: Formatted for direct automated webhook ingestion.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560320" cy="320040"/>
          </a:xfrm>
          <a:prstGeom prst="roundRect">
            <a:avLst/>
          </a:prstGeom>
          <a:solidFill>
            <a:srgbClr val="1E1B4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OPERATOR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64008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Interactive Dual-Pane Document Intelligence 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1148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Built with React, Vite, Tailwind CSS &amp; HTML Canvas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257800" cy="2057400"/>
          </a:xfrm>
          <a:prstGeom prst="roundRect">
            <a:avLst/>
          </a:prstGeom>
          <a:solidFill>
            <a:srgbClr val="151E32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4892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6B6D4"/>
                </a:solidFill>
              </a:defRPr>
            </a:pPr>
            <a:r>
              <a:t>Zone 1: Pipeline Timeline</a:t>
            </a:r>
          </a:p>
          <a:p>
            <a:pPr>
              <a:lnSpc>
                <a:spcPct val="120000"/>
              </a:lnSpc>
              <a:defRPr sz="1300">
                <a:solidFill>
                  <a:srgbClr val="94A3B8"/>
                </a:solidFill>
              </a:defRPr>
            </a:pPr>
            <a:r>
              <a:t>Real-time reactive ticker displaying sub-second agent milestones, token counts, and bounding box coordinates mapped.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920240"/>
            <a:ext cx="5257800" cy="2057400"/>
          </a:xfrm>
          <a:prstGeom prst="roundRect">
            <a:avLst/>
          </a:prstGeom>
          <a:solidFill>
            <a:srgbClr val="151E32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2057400"/>
            <a:ext cx="4892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0B981"/>
                </a:solidFill>
              </a:defRPr>
            </a:pPr>
            <a:r>
              <a:t>Zone 2: Dual Canvas View</a:t>
            </a:r>
          </a:p>
          <a:p>
            <a:pPr>
              <a:lnSpc>
                <a:spcPct val="120000"/>
              </a:lnSpc>
              <a:defRPr sz="1300">
                <a:solidFill>
                  <a:srgbClr val="94A3B8"/>
                </a:solidFill>
              </a:defRPr>
            </a:pPr>
            <a:r>
              <a:t>Side-by-side split comparison: Left shows flagged PII overlays; Right renders clean PDF with blackened pixels burned in.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160520"/>
            <a:ext cx="5257800" cy="2057400"/>
          </a:xfrm>
          <a:prstGeom prst="roundRect">
            <a:avLst/>
          </a:prstGeom>
          <a:solidFill>
            <a:srgbClr val="151E32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297680"/>
            <a:ext cx="4892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6366F1"/>
                </a:solidFill>
              </a:defRPr>
            </a:pPr>
            <a:r>
              <a:t>Synchronous Magnification</a:t>
            </a:r>
          </a:p>
          <a:p>
            <a:pPr>
              <a:lnSpc>
                <a:spcPct val="120000"/>
              </a:lnSpc>
              <a:defRPr sz="1300">
                <a:solidFill>
                  <a:srgbClr val="94A3B8"/>
                </a:solidFill>
              </a:defRPr>
            </a:pPr>
            <a:r>
              <a:t>Proportional 60% to 225% synchronous zoom controls with smooth panning and mathematical overlay alignment.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4160520"/>
            <a:ext cx="5257800" cy="2057400"/>
          </a:xfrm>
          <a:prstGeom prst="roundRect">
            <a:avLst/>
          </a:prstGeom>
          <a:solidFill>
            <a:srgbClr val="151E32"/>
          </a:solidFill>
          <a:ln w="1524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4297680"/>
            <a:ext cx="4892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43F5E"/>
                </a:solidFill>
              </a:defRPr>
            </a:pPr>
            <a:r>
              <a:t>Zone 3: Compliance Cards</a:t>
            </a:r>
          </a:p>
          <a:p>
            <a:pPr>
              <a:lnSpc>
                <a:spcPct val="120000"/>
              </a:lnSpc>
              <a:defRPr sz="1300">
                <a:solidFill>
                  <a:srgbClr val="94A3B8"/>
                </a:solidFill>
              </a:defRPr>
            </a:pPr>
            <a:r>
              <a:t>Color-coded risk findings (High/Med/Low) with one-click copyable redline revisions and type-safe JSON schema view.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560320" cy="320040"/>
          </a:xfrm>
          <a:prstGeom prst="roundRect">
            <a:avLst/>
          </a:prstGeom>
          <a:solidFill>
            <a:srgbClr val="1E1B4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VERSATILITY &amp; USE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64008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Demonstrated Multi-Sector Scenarios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1148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3 ready-to-test booth presets plus arbitrary PDF drag-and-drop ingestion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474720" cy="4206240"/>
          </a:xfrm>
          <a:prstGeom prst="roundRect">
            <a:avLst/>
          </a:prstGeom>
          <a:solidFill>
            <a:srgbClr val="151E32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3108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6B6D4"/>
                </a:solidFill>
              </a:defRPr>
            </a:pPr>
            <a:r>
              <a:t>Sample 1: Medical Billing</a:t>
            </a:r>
          </a:p>
          <a:p>
            <a:pPr>
              <a:spcAft>
                <a:spcPts val="1200"/>
              </a:spcAft>
              <a:defRPr sz="1100" b="1">
                <a:solidFill>
                  <a:srgbClr val="FFFFFF"/>
                </a:solidFill>
              </a:defRPr>
            </a:pPr>
            <a:r>
              <a:t>Healthcare (HIPAA Safe Harbor)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Redacts Patient Name, SSN, DOB, Address, Policy ID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Preserves ICD-10 diagnosis codes &amp; charges table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NSA Balance Billing validation ($14,250 gross charge)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Differential Privacy on copay &amp; financial totals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920240"/>
            <a:ext cx="3474720" cy="4206240"/>
          </a:xfrm>
          <a:prstGeom prst="roundRect">
            <a:avLst/>
          </a:prstGeom>
          <a:solidFill>
            <a:srgbClr val="151E32"/>
          </a:solidFill>
          <a:ln w="1524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2103120"/>
            <a:ext cx="3108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43F5E"/>
                </a:solidFill>
              </a:defRPr>
            </a:pPr>
            <a:r>
              <a:t>Sample 2: Tech Vendor NDA</a:t>
            </a:r>
          </a:p>
          <a:p>
            <a:pPr>
              <a:spcAft>
                <a:spcPts val="1200"/>
              </a:spcAft>
              <a:defRPr sz="1100" b="1">
                <a:solidFill>
                  <a:srgbClr val="FFFFFF"/>
                </a:solidFill>
              </a:defRPr>
            </a:pPr>
            <a:r>
              <a:t>Enterprise Legal &amp; Procurement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Flags Clause 8.2: Unilateral Unlimited Indemnification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Flags Clause 14.1: Foreign Zurich Court Jurisdiction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Flags Clause 4.3: Non-standard 10-year survival term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Instant suggested enterprise redline clause replacements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1920240"/>
            <a:ext cx="3474720" cy="4206240"/>
          </a:xfrm>
          <a:prstGeom prst="roundRect">
            <a:avLst/>
          </a:prstGeom>
          <a:solidFill>
            <a:srgbClr val="151E32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0" y="2103120"/>
            <a:ext cx="3108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0B981"/>
                </a:solidFill>
              </a:defRPr>
            </a:pPr>
            <a:r>
              <a:t>Sample 3: Academic Assignment</a:t>
            </a:r>
          </a:p>
          <a:p>
            <a:pPr>
              <a:spcAft>
                <a:spcPts val="1200"/>
              </a:spcAft>
              <a:defRPr sz="1100" b="1">
                <a:solidFill>
                  <a:srgbClr val="FFFFFF"/>
                </a:solidFill>
              </a:defRPr>
            </a:pPr>
            <a:r>
              <a:t>Higher Education &amp; Research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FERPA student privacy: masks Student Name &amp; USN ID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Evaluates double-blind grading compliance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Extracts Course Code, Department, and Credits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Zero false-positive redaction on form headers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560320" cy="320040"/>
          </a:xfrm>
          <a:prstGeom prst="roundRect">
            <a:avLst/>
          </a:prstGeom>
          <a:solidFill>
            <a:srgbClr val="1E1B4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METRICS &amp; ROI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64008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Production Performance &amp; Business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1148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Empirical execution benchmarks on commodity local hardware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2560320" cy="4206240"/>
          </a:xfrm>
          <a:prstGeom prst="roundRect">
            <a:avLst/>
          </a:prstGeom>
          <a:solidFill>
            <a:srgbClr val="151E32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194560"/>
            <a:ext cx="2286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06B6D4"/>
                </a:solidFill>
              </a:defRPr>
            </a:pPr>
            <a:r>
              <a:t>&lt; 4.0s</a:t>
            </a:r>
          </a:p>
          <a:p>
            <a:pPr>
              <a:spcAft>
                <a:spcPts val="1200"/>
              </a:spcAft>
              <a:defRPr sz="1400" b="1">
                <a:solidFill>
                  <a:srgbClr val="FFFFFF"/>
                </a:solidFill>
              </a:defRPr>
            </a:pPr>
            <a:r>
              <a:t>End-to-End Pipeline Runtime</a:t>
            </a:r>
          </a:p>
          <a:p>
            <a:pPr>
              <a:lnSpc>
                <a:spcPct val="120000"/>
              </a:lnSpc>
              <a:defRPr sz="1200">
                <a:solidFill>
                  <a:srgbClr val="94A3B8"/>
                </a:solidFill>
              </a:defRPr>
            </a:pPr>
            <a:r>
              <a:t>From raw PDF drop to burned clean PDF, Pydantic schema &amp; audit log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920240"/>
            <a:ext cx="2560320" cy="4206240"/>
          </a:xfrm>
          <a:prstGeom prst="roundRect">
            <a:avLst/>
          </a:prstGeom>
          <a:solidFill>
            <a:srgbClr val="151E32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2194560"/>
            <a:ext cx="2286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10B981"/>
                </a:solidFill>
              </a:defRPr>
            </a:pPr>
            <a:r>
              <a:t>0 Bytes</a:t>
            </a:r>
          </a:p>
          <a:p>
            <a:pPr>
              <a:spcAft>
                <a:spcPts val="1200"/>
              </a:spcAft>
              <a:defRPr sz="1400" b="1">
                <a:solidFill>
                  <a:srgbClr val="FFFFFF"/>
                </a:solidFill>
              </a:defRPr>
            </a:pPr>
            <a:r>
              <a:t>Cloud Data Egress</a:t>
            </a:r>
          </a:p>
          <a:p>
            <a:pPr>
              <a:lnSpc>
                <a:spcPct val="120000"/>
              </a:lnSpc>
              <a:defRPr sz="1200">
                <a:solidFill>
                  <a:srgbClr val="94A3B8"/>
                </a:solidFill>
              </a:defRPr>
            </a:pPr>
            <a:r>
              <a:t>100% local execution. Fully air-gapped without external API calls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920240"/>
            <a:ext cx="2560320" cy="4206240"/>
          </a:xfrm>
          <a:prstGeom prst="roundRect">
            <a:avLst/>
          </a:prstGeom>
          <a:solidFill>
            <a:srgbClr val="151E32"/>
          </a:solidFill>
          <a:ln w="1524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2194560"/>
            <a:ext cx="2286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F43F5E"/>
                </a:solidFill>
              </a:defRPr>
            </a:pPr>
            <a:r>
              <a:t>0 Traces</a:t>
            </a:r>
          </a:p>
          <a:p>
            <a:pPr>
              <a:spcAft>
                <a:spcPts val="1200"/>
              </a:spcAft>
              <a:defRPr sz="1400" b="1">
                <a:solidFill>
                  <a:srgbClr val="FFFFFF"/>
                </a:solidFill>
              </a:defRPr>
            </a:pPr>
            <a:r>
              <a:t>Residual Text Leakage</a:t>
            </a:r>
          </a:p>
          <a:p>
            <a:pPr>
              <a:lnSpc>
                <a:spcPct val="120000"/>
              </a:lnSpc>
              <a:defRPr sz="1200">
                <a:solidFill>
                  <a:srgbClr val="94A3B8"/>
                </a:solidFill>
              </a:defRPr>
            </a:pPr>
            <a:r>
              <a:t>Permanently clears vector stream character coordinates in memory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23960" y="1920240"/>
            <a:ext cx="2560320" cy="4206240"/>
          </a:xfrm>
          <a:prstGeom prst="roundRect">
            <a:avLst/>
          </a:prstGeom>
          <a:solidFill>
            <a:srgbClr val="151E32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0" y="2194560"/>
            <a:ext cx="2286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6366F1"/>
                </a:solidFill>
              </a:defRPr>
            </a:pPr>
            <a:r>
              <a:t>80%</a:t>
            </a:r>
          </a:p>
          <a:p>
            <a:pPr>
              <a:spcAft>
                <a:spcPts val="1200"/>
              </a:spcAft>
              <a:defRPr sz="1400" b="1">
                <a:solidFill>
                  <a:srgbClr val="FFFFFF"/>
                </a:solidFill>
              </a:defRPr>
            </a:pPr>
            <a:r>
              <a:t>Review Time Reduction</a:t>
            </a:r>
          </a:p>
          <a:p>
            <a:pPr>
              <a:lnSpc>
                <a:spcPct val="120000"/>
              </a:lnSpc>
              <a:defRPr sz="1200">
                <a:solidFill>
                  <a:srgbClr val="94A3B8"/>
                </a:solidFill>
              </a:defRPr>
            </a:pPr>
            <a:r>
              <a:t>Automates contract deviation identification and suggested redlines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560320" cy="320040"/>
          </a:xfrm>
          <a:prstGeom prst="roundRect">
            <a:avLst/>
          </a:prstGeom>
          <a:solidFill>
            <a:srgbClr val="1E1B4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SUMMARY &amp; 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64008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Conclusion &amp; Next-Generation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1148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Transforming regulated document workflows with multi-agent guarantees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257800" cy="4206240"/>
          </a:xfrm>
          <a:prstGeom prst="roundRect">
            <a:avLst/>
          </a:prstGeom>
          <a:solidFill>
            <a:srgbClr val="151E32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8920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6B6D4"/>
                </a:solidFill>
              </a:defRPr>
            </a:pPr>
            <a:r>
              <a:t>Why Our Solution Wins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★  True Security vs. Cosmetic Security: Hardware burn-in destroys glyphs permanently.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★  Air-Gapped Compliance: Zero external LLM token egress or API dependency.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★  Modular Multi-Agent DAG: Decouples spatial vision, NER, extraction &amp; risk assessment.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★  Mathematical Guarantees: Differential privacy prevents reconstruction attacks.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★  Ready Today: Operates on commodity enterprise laptops in sub-4 seconds.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920240"/>
            <a:ext cx="5257800" cy="4206240"/>
          </a:xfrm>
          <a:prstGeom prst="roundRect">
            <a:avLst/>
          </a:prstGeom>
          <a:solidFill>
            <a:srgbClr val="151E32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2103120"/>
            <a:ext cx="48920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0B981"/>
                </a:solidFill>
              </a:defRPr>
            </a:pPr>
            <a:r>
              <a:t>Future Technical Roadmap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→  On-Device Handwritten OCR: Integration with local TrOCR &amp; PaddleOCR engines.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→  Multi-Tenant RBAC: Role-based redaction policies (clinician vs. billing clerk views).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→  Automated ERP &amp; EMR Connectors: Direct FHIR / Epic &amp; SAP webhook ingestion.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→  Zero-Knowledge Audit Attestation: zk-SNARK proofs of redaction correctness.</a:t>
            </a:r>
          </a:p>
          <a:p>
            <a:br/>
            <a:pPr>
              <a:defRPr sz="1400" b="1">
                <a:solidFill>
                  <a:srgbClr val="FFFFFF"/>
                </a:solidFill>
              </a:defRPr>
            </a:pPr>
            <a:r>
              <a:t>Thank you, Judges! Ready for Q&amp;A.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